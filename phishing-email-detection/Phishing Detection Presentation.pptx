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5A9C1-126B-877D-6DC0-F78B9CD15F27}" v="36" dt="2026-05-16T11:01:03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50B02-E1F6-4BEA-8CF2-6A53528C85AD}" type="datetimeFigureOut"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575DA-867F-40D9-B240-EC52B1D86E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3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109728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Detection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Banking Systems Using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Classifier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0" y="3749040"/>
            <a:ext cx="32004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9319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B8D4E3"/>
                </a:solidFill>
                <a:latin typeface="Calibri"/>
                <a:ea typeface="Calibri"/>
                <a:cs typeface="Calibri"/>
              </a:rPr>
              <a:t>Student Name(s):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[Hadi </a:t>
            </a:r>
            <a:r>
              <a:rPr lang="en-U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Muselmani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/ </a:t>
            </a:r>
            <a:r>
              <a:rPr lang="en-U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mohamad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houry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mohamad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mtyrk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600">
              <a:ea typeface="Calibri"/>
              <a:cs typeface="Calibri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D4E3"/>
                </a:solidFill>
                <a:latin typeface="Calibri"/>
                <a:ea typeface="Calibri"/>
                <a:cs typeface="Calibri"/>
              </a:rPr>
              <a:t>Instructor: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Ali El-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Zaart</a:t>
            </a:r>
            <a:endParaRPr lang="en-US" sz="1600" dirty="0" err="1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19659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and Research Gap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2560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Email Dataset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1546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7280" y="37490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97280" y="4343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49377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Discussion, Conclusion &amp; Future Work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on banking customers cause major financial losses and erode trust in online banking.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486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is one of the top three most targeted industries for phishing.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attacks mimic legitimate banking tone, use look-alike domains and shortened URLs.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no longer reliable; automated detection is essential.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detect phishing using only message text and lightweight features.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754880" cy="457200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 MISS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successful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2468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04088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compromise an account,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personal data, and damage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trust.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40880" y="4754880"/>
            <a:ext cx="1097280" cy="0"/>
          </a:xfrm>
          <a:prstGeom prst="line">
            <a:avLst/>
          </a:prstGeom>
          <a:noFill/>
          <a:ln w="38100">
            <a:solidFill>
              <a:srgbClr val="D72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= lost customers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= blocked legit mail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4389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a Multinomial Naive Bayes classifier that distinguishes phishing from legitimate banking emails.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371600"/>
            <a:ext cx="109728" cy="4389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probabilistic text classifier compare to discriminative baselines (LR, SVM, DT) on banking phishing?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371600"/>
            <a:ext cx="109728" cy="4389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9536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95360" y="28803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 delivering accuracy, recall, and F1 above 95% with interpretable decisions.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probabilistic text classifiers for banking phishing?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false negative is a direct loss. Every false positive frustrates customers.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408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needs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scan millions of emails daily; the classifier must score messages in milliseconds.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343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must explain to customers why an email was flagged or released.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0" y="4343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can be retrained in seconds when new phishing variants emerge.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IN EXISTING 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filters require constant manual maintenance.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rates on benign banking alerts and password resets.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use generic phishing data, not banking-specific corpora.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lack interpretability and need heavy compute.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Banking-focused dataset with realistic class overlap and label noise.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interpretable model that retrains in seconds.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head-to-head comparison with three established baselines.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analysis of which sample types remain hard to classify.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wave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Filters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Sahami (1998)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blacklists, regex keyword matching, SPF/DKIM checks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interpretable but cannot adapt to novel attacks.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280160"/>
            <a:ext cx="3657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Workhorse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2514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Fette et al. (2007)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+ TF-IDF features with NB, LR, SVM, DT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416052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2976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90–99% accuracy; interpretable; cheap to train and update.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128016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1874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03920" y="2514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CNN, RNN-based phishing classifiers (2020+)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16052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2976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peak accuracy but heavy compute, hard to explain.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 of This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Banking-specific 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 emails crafted for banking with realistic class overlap, polished phishing variants, and 3.5% annotation noise.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feature set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1488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count n-grams combined with five behavioural features specific to banking phishing (URLs, urgency, money lures).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4-way comparison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526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vs Logistic Regression vs Linear SVM vs Decision Tree on identical splits, metrics, and seeds.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526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remaining false positives (legit security alerts) and false negatives (polished spear-phish).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emails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samples (44.7%)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samples (55.3%)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300" dirty="0"/>
          </a:p>
        </p:txBody>
      </p:sp>
      <p:pic>
        <p:nvPicPr>
          <p:cNvPr id="12" name="Image 0" descr="/home/claude/project/figure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7132320" cy="4572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address of the sender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line of the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body of the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URLs in the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has_urgent_words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/ alert / asap keywords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has_money_words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/ reward / $ keywords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has_suspicious_url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Shortened or unusual TLD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num_misspellings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phishing typos counter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= phishing, 0 = legitimate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600200"/>
            <a:ext cx="594360" cy="5943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subject + body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926080"/>
            <a:ext cx="109728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82880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600200"/>
            <a:ext cx="594360" cy="5943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7180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2834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punctuation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4920" y="2926080"/>
            <a:ext cx="109728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82880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600200"/>
            <a:ext cx="594360" cy="5943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2834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URLs → URL, numbers → NUM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2926080"/>
            <a:ext cx="109728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182880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1600200"/>
            <a:ext cx="594360" cy="5943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3524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2834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counts, unigrams + bigrams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38360" y="2926080"/>
            <a:ext cx="109728" cy="182880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1828800"/>
            <a:ext cx="2148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52760" y="1600200"/>
            <a:ext cx="594360" cy="5943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527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6696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66960" y="2834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scale numeric features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1,796-dimensional feature vector per email (3,000 max vocab × min_df=2 + 5 behavioural features)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LEARNING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binary classification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657600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 (α = 0.1)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657600" cy="155448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58200" y="1965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 + 5-fold CV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(CORE OF THE MODEL)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P(class | email) 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</a:t>
            </a: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P(class) </a:t>
            </a: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∏ P(word | class)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= Prior (class frequency)  ×  Likelihood (word distribution per class)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with the highest posterior wins. Laplace smoothing (α = 0.1) avoids zero probabilities.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 Steps and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prior P(class) from training frequencies.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P(word | class) for each vocabulary word.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200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Laplace smoothing (α = 0.1) to avoid zeros.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977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email, sum log priors + log likelihoods per class.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754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class with the highest log-posterior score.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1188720"/>
            <a:ext cx="5029200" cy="466344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371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NAIVE BAYES?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1874520"/>
            <a:ext cx="10972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workhorse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success in spam and phishing filtering.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training, fast inference, easy retraining.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886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4251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probabilities are directly inspectable.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5166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class imbalance and irrelevant features.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" name="Image 0" descr="/home/claude/project/figures/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106424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raw email in, classification decision out.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65760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 / 20 split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2,080 train · 520 test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 = 42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2801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280160"/>
            <a:ext cx="365760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(per model)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402336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+ 5-fold CV F1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12801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280160"/>
            <a:ext cx="365760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03920" y="256032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scikit-learn 1.3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329184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scipy.sparse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023360"/>
            <a:ext cx="1371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figures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Naive Bayes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26517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517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651760" cy="137160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280160"/>
            <a:ext cx="26517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5256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pic>
        <p:nvPicPr>
          <p:cNvPr id="16" name="Image 0" descr="/home/claude/project/figures/cm_naive_ba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26080"/>
            <a:ext cx="5029200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READOUT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0" y="34747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(legitimate correctly cleared)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(phishing correctly caught)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(legitimate blocked)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(phishing missed)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 = </a:t>
            </a:r>
            <a:r>
              <a:rPr lang="en-US" sz="1300" b="1" i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0.9605 ± 0.015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Indicators of Banking Phishing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below contribute the strongest signal to the model's decisions: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 pattern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011680"/>
            <a:ext cx="64008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2011680"/>
            <a:ext cx="60807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keywords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2651760"/>
            <a:ext cx="64008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2651760"/>
            <a:ext cx="5248656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/ reward lures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3291840"/>
            <a:ext cx="64008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3291840"/>
            <a:ext cx="4992624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misspellings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3931920"/>
            <a:ext cx="64008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3931920"/>
            <a:ext cx="4096512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request words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0" y="4572000"/>
            <a:ext cx="64008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4572000"/>
            <a:ext cx="5632704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mismatch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0" y="5212080"/>
            <a:ext cx="64008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5212080"/>
            <a:ext cx="4544568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0" y="5120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signal strength (qualitative ranking from log-likelihood ratios).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Other Algorithms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" name="Image 0" descr="/home/claude/project/figure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400800" cy="402336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280160"/>
          <a:ext cx="438912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0.9701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223760" y="3657600"/>
            <a:ext cx="4389120" cy="210312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40664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406640" y="41605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ties LR and SVM on every classification metric, beats them on ROC AUC, and trains 10x faster.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phishing has a small but high-signal vocabulary (verify, suspended, credentials, routing).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features (URLs, urgency, misspellings) add complementary signal cheaply.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converge to the same decisions because the remaining hard samples are intrinsic to the data.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wins on ROC AUC because its probability ranking is sharper.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dataset versions were trivially separable - had to engineer overlap.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are mostly legitimate security alerts and wire transfer notices.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are polished spear-phishing emails that avoid all red flags.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dataset; results must be validated on real production traffic.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Impact &amp; Real-World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gateway filter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pre-inbox scoring layer in a bank's SMTP gateway to block obvious phishing before delivery.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371600"/>
            <a:ext cx="109728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triage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reported emails by phishing probability so SOC analysts review the riskiest first.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728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warning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visible banner into low-confidence emails warning customers before they click links.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657600"/>
            <a:ext cx="109728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retraining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4389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new analyst-confirmed phishing samples to refresh the model weekly with minimal compute.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4173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achieves 97.12% accuracy, 96.73% F1, and ROC AUC 0.9701 — the highest of any tested model.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well-tuned probabilistic baseline matches or beats discriminative linear models on banking phishing.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n-gram features with five behavioural cues is sufficient to reach &gt;97% accuracy.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errors come from genuinely ambiguous samples and annotation noise, not model weakness.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is fast, interpretable, and easy to retrain — ideal for a real banking SOC deployment.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Publication Direction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10972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the Nazario + Enron corpora and live bank traffic.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0972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SPF/DKIM/DMARC and display-name mismatch features.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0972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baselines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DistilBERT for accuracy / latency trade-off.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0972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study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performance degrades as phishing evolves over months.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0972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9377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82880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student workshop track at an IEEE/ACM cybersecurity conference.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A4F"/>
          </a:solidFill>
          <a:ln w="12700">
            <a:solidFill>
              <a:srgbClr val="1A2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– Applied Machine Learning for Cybersecurity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Sahami, M. et al. (1998). A Bayesian Approach to Filtering Junk E-Mail. AAAI.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Fette, I., Sadeh, N., Tomasic, A. (2007). Learning to Detect Phishing Emails. WWW '07.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Pedregosa, F. et al. (2011). Scikit-learn: Machine Learning in Python. JMLR.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Nazario, J. (2005). The Nazario Phishing Corpus.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Klimt, B. and Yang, Y. (2004). The Enron Corpus. ECML.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APWG (2024). Phishing Activity Trends Report.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CMPS354  ·  Applied Machine Learning for Cybersecurity  · 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Email Detection in Banking Systems Using Naive Bayes Classifier</dc:title>
  <dc:subject>PptxGenJS Presentation</dc:subject>
  <dc:creator>CMPS354 Project</dc:creator>
  <cp:lastModifiedBy>CMPS354 Project</cp:lastModifiedBy>
  <cp:revision>8</cp:revision>
  <dcterms:created xsi:type="dcterms:W3CDTF">2026-05-16T10:40:25Z</dcterms:created>
  <dcterms:modified xsi:type="dcterms:W3CDTF">2026-05-16T11:01:20Z</dcterms:modified>
</cp:coreProperties>
</file>